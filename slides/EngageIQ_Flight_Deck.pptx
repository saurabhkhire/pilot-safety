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67" r:id="rId14"/>
    <p:sldId id="274" r:id="rId15"/>
    <p:sldId id="268" r:id="rId16"/>
    <p:sldId id="275" r:id="rId17"/>
    <p:sldId id="269" r:id="rId18"/>
    <p:sldId id="276" r:id="rId19"/>
    <p:sldId id="270" r:id="rId20"/>
    <p:sldId id="271" r:id="rId21"/>
    <p:sldId id="272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161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EngageIQ Flight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t>Real-Time Pilot Behavioral Safety Monitoring</a:t>
            </a:r>
          </a:p>
          <a:p>
            <a:r>
              <a:t>Google DeepMind × InstaLILY On-Device AI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• Pilot fatigue causes ~15–20% of aviation accidents</a:t>
            </a:r>
          </a:p>
          <a:p>
            <a:r>
              <a:rPr sz="2000" dirty="0"/>
              <a:t>• Biometric video (face) cannot leave the aircraft — privacy &amp; security regulations</a:t>
            </a:r>
          </a:p>
          <a:p>
            <a:r>
              <a:rPr sz="2000" dirty="0"/>
              <a:t>• Cloud round-trip latency at cruise (satellite): 600–800ms — too slow for &amp;lt;500ms alerts</a:t>
            </a:r>
          </a:p>
          <a:p>
            <a:r>
              <a:rPr sz="2000" dirty="0"/>
              <a:t>• Oceanic routes: zero connectivity for hours — system must work offline</a:t>
            </a:r>
          </a:p>
          <a:p>
            <a:r>
              <a:rPr sz="2000" dirty="0"/>
              <a:t>• Continuous camera feed economics: per-call API pricing is impractical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Solving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• Two camera feeds + cockpit data → live Pilot Safety Index (PSI, 0–100)</a:t>
            </a:r>
          </a:p>
          <a:p>
            <a:r>
              <a:rPr sz="2000" dirty="0"/>
              <a:t>• Escalating safety interventions: NOMINAL → MONITOR → CAUTION → WARNING → CRITICAL</a:t>
            </a:r>
          </a:p>
          <a:p>
            <a:r>
              <a:rPr sz="2000" dirty="0"/>
              <a:t>• Fully on-device inference via Ollama (Gemma 3n, </a:t>
            </a:r>
            <a:r>
              <a:rPr sz="2000" dirty="0" err="1"/>
              <a:t>FunctionGemma</a:t>
            </a:r>
            <a:r>
              <a:rPr sz="2000" dirty="0"/>
              <a:t>) — no cloud</a:t>
            </a:r>
          </a:p>
          <a:p>
            <a:r>
              <a:rPr sz="2000" dirty="0"/>
              <a:t>• Autonomous </a:t>
            </a:r>
            <a:r>
              <a:rPr sz="2000" dirty="0" err="1"/>
              <a:t>ActionAgent</a:t>
            </a:r>
            <a:r>
              <a:rPr sz="2000" dirty="0"/>
              <a:t> decides: </a:t>
            </a:r>
            <a:r>
              <a:rPr sz="2000" dirty="0" err="1"/>
              <a:t>trigger_alert</a:t>
            </a:r>
            <a:r>
              <a:rPr sz="2000" dirty="0"/>
              <a:t>, </a:t>
            </a:r>
            <a:r>
              <a:rPr sz="2000" dirty="0" err="1"/>
              <a:t>notify_copilot</a:t>
            </a:r>
            <a:r>
              <a:rPr sz="2000" dirty="0"/>
              <a:t>, </a:t>
            </a:r>
            <a:r>
              <a:rPr sz="2000" dirty="0" err="1"/>
              <a:t>suggest_rest_protocol</a:t>
            </a:r>
            <a:r>
              <a:rPr sz="2000" dirty="0"/>
              <a:t>, etc.</a:t>
            </a:r>
          </a:p>
          <a:p>
            <a:r>
              <a:rPr sz="2000" dirty="0"/>
              <a:t>• Demo: upload drowsy video or inject scenarios; watch PSI drop and alerts escalate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• </a:t>
            </a:r>
            <a:r>
              <a:rPr sz="2000" dirty="0" err="1"/>
              <a:t>PerceptionAgent</a:t>
            </a:r>
            <a:r>
              <a:rPr sz="2000" dirty="0"/>
              <a:t> (Gemma 3n) — face frame → </a:t>
            </a:r>
            <a:r>
              <a:rPr sz="2000" dirty="0" err="1"/>
              <a:t>pilot_state</a:t>
            </a:r>
            <a:r>
              <a:rPr sz="2000" dirty="0"/>
              <a:t> (</a:t>
            </a:r>
            <a:r>
              <a:rPr sz="2000" dirty="0" err="1"/>
              <a:t>perclos</a:t>
            </a:r>
            <a:r>
              <a:rPr sz="2000" dirty="0"/>
              <a:t>, yawn, </a:t>
            </a:r>
            <a:r>
              <a:rPr sz="2000" dirty="0" err="1"/>
              <a:t>head_drop</a:t>
            </a:r>
            <a:r>
              <a:rPr sz="2000" dirty="0"/>
              <a:t>, gaze)</a:t>
            </a:r>
          </a:p>
          <a:p>
            <a:r>
              <a:rPr sz="2000" dirty="0"/>
              <a:t>• </a:t>
            </a:r>
            <a:r>
              <a:rPr sz="2000" dirty="0" err="1"/>
              <a:t>ActionAgent</a:t>
            </a:r>
            <a:r>
              <a:rPr sz="2000" dirty="0"/>
              <a:t> (</a:t>
            </a:r>
            <a:r>
              <a:rPr sz="2000" dirty="0" err="1"/>
              <a:t>FunctionGemma</a:t>
            </a:r>
            <a:r>
              <a:rPr sz="2000" dirty="0"/>
              <a:t> 270M) — </a:t>
            </a:r>
            <a:r>
              <a:rPr sz="2000" dirty="0" err="1"/>
              <a:t>pilot_state</a:t>
            </a:r>
            <a:r>
              <a:rPr sz="2000" dirty="0"/>
              <a:t> → function calls</a:t>
            </a:r>
          </a:p>
          <a:p>
            <a:r>
              <a:rPr sz="2000" dirty="0"/>
              <a:t>• </a:t>
            </a:r>
            <a:r>
              <a:rPr sz="2000" dirty="0" err="1"/>
              <a:t>LandingAgent</a:t>
            </a:r>
            <a:r>
              <a:rPr sz="2000" dirty="0"/>
              <a:t> (Gemma 3n) — external/belly frame → </a:t>
            </a:r>
            <a:r>
              <a:rPr sz="2000" dirty="0" err="1"/>
              <a:t>landing_report</a:t>
            </a:r>
            <a:r>
              <a:rPr sz="2000" dirty="0"/>
              <a:t> (bounces, score)</a:t>
            </a:r>
          </a:p>
          <a:p>
            <a:r>
              <a:rPr sz="2000" dirty="0"/>
              <a:t>• PSI Engine — composite score from fatigue, attention, procedural, landing</a:t>
            </a:r>
          </a:p>
          <a:p>
            <a:r>
              <a:rPr sz="2000" dirty="0"/>
              <a:t>• Cockpit Error Classifier — 5 error types (</a:t>
            </a:r>
            <a:r>
              <a:rPr sz="2000" dirty="0" err="1"/>
              <a:t>wrong_button</a:t>
            </a:r>
            <a:r>
              <a:rPr sz="2000" dirty="0"/>
              <a:t>, omission, commission, reversal, </a:t>
            </a:r>
            <a:r>
              <a:rPr sz="2000" dirty="0" err="1"/>
              <a:t>sequence_error</a:t>
            </a:r>
            <a:r>
              <a:rPr sz="2000" dirty="0"/>
              <a:t>)</a:t>
            </a:r>
          </a:p>
          <a:p>
            <a:r>
              <a:rPr sz="2000" dirty="0"/>
              <a:t>• React HUD — PSI ring, signals, agent feed, landing report, alert banner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Camera 1 (Face) → OpenCV → </a:t>
            </a:r>
            <a:r>
              <a:rPr sz="2000" dirty="0" err="1"/>
              <a:t>PerceptionAgent</a:t>
            </a:r>
            <a:r>
              <a:rPr sz="2000" dirty="0"/>
              <a:t> (Gemma 3n) → </a:t>
            </a:r>
            <a:r>
              <a:rPr sz="2000" dirty="0" err="1"/>
              <a:t>pilot_state</a:t>
            </a:r>
            <a:r>
              <a:rPr sz="2000" dirty="0"/>
              <a:t> JSON</a:t>
            </a:r>
          </a:p>
          <a:p>
            <a:r>
              <a:rPr sz="2000" dirty="0"/>
              <a:t>Camera 2 (External) → OpenCV → </a:t>
            </a:r>
            <a:r>
              <a:rPr sz="2000" dirty="0" err="1"/>
              <a:t>LandingAgent</a:t>
            </a:r>
            <a:r>
              <a:rPr sz="2000" dirty="0"/>
              <a:t> (Gemma 3n) → </a:t>
            </a:r>
            <a:r>
              <a:rPr sz="2000" dirty="0" err="1"/>
              <a:t>landing_report</a:t>
            </a:r>
            <a:r>
              <a:rPr sz="2000" dirty="0"/>
              <a:t> JSON</a:t>
            </a:r>
          </a:p>
          <a:p>
            <a:r>
              <a:rPr sz="2000" dirty="0"/>
              <a:t>X-Plane / Replay → </a:t>
            </a:r>
            <a:r>
              <a:rPr sz="2000" dirty="0" err="1"/>
              <a:t>sim_bridge</a:t>
            </a:r>
            <a:r>
              <a:rPr sz="2000" dirty="0"/>
              <a:t> → phase + </a:t>
            </a:r>
            <a:r>
              <a:rPr sz="2000" dirty="0" err="1"/>
              <a:t>cockpit_errors</a:t>
            </a:r>
            <a:endParaRPr sz="2000" dirty="0"/>
          </a:p>
          <a:p>
            <a:r>
              <a:rPr sz="2000" dirty="0" err="1"/>
              <a:t>pilot_state</a:t>
            </a:r>
            <a:r>
              <a:rPr sz="2000" dirty="0"/>
              <a:t> + </a:t>
            </a:r>
            <a:r>
              <a:rPr sz="2000" dirty="0" err="1"/>
              <a:t>cockpit_errors</a:t>
            </a:r>
            <a:r>
              <a:rPr sz="2000" dirty="0"/>
              <a:t> → </a:t>
            </a:r>
            <a:r>
              <a:rPr sz="2000" dirty="0" err="1"/>
              <a:t>ActionAgent</a:t>
            </a:r>
            <a:r>
              <a:rPr sz="2000" dirty="0"/>
              <a:t> (</a:t>
            </a:r>
            <a:r>
              <a:rPr sz="2000" dirty="0" err="1"/>
              <a:t>FunctionGemma</a:t>
            </a:r>
            <a:r>
              <a:rPr sz="2000" dirty="0"/>
              <a:t>) → function calls</a:t>
            </a:r>
          </a:p>
          <a:p>
            <a:r>
              <a:rPr sz="2000" dirty="0"/>
              <a:t>All outputs → PSI Engine → WebSocket (2Hz) → React HUD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Does: PerceptionAgent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Gemma 3n E4B</a:t>
            </a:r>
          </a:p>
          <a:p>
            <a:endParaRPr sz="2000" dirty="0"/>
          </a:p>
          <a:p>
            <a:r>
              <a:rPr sz="2000" dirty="0"/>
              <a:t>• Input: face frame (Camera 1) + flight phase</a:t>
            </a:r>
          </a:p>
          <a:p>
            <a:r>
              <a:rPr sz="2000" dirty="0"/>
              <a:t>• Output: </a:t>
            </a:r>
            <a:r>
              <a:rPr sz="2000" dirty="0" err="1"/>
              <a:t>pilot_state</a:t>
            </a:r>
            <a:r>
              <a:rPr sz="2000" dirty="0"/>
              <a:t> JSON (state, </a:t>
            </a:r>
            <a:r>
              <a:rPr sz="2000" dirty="0" err="1"/>
              <a:t>perclos_est</a:t>
            </a:r>
            <a:r>
              <a:rPr sz="2000" dirty="0"/>
              <a:t>, yawn, </a:t>
            </a:r>
            <a:r>
              <a:rPr sz="2000" dirty="0" err="1"/>
              <a:t>head_drop</a:t>
            </a:r>
            <a:r>
              <a:rPr sz="2000" dirty="0"/>
              <a:t>, </a:t>
            </a:r>
            <a:r>
              <a:rPr sz="2000" dirty="0" err="1"/>
              <a:t>gaze_off_instruments</a:t>
            </a:r>
            <a:r>
              <a:rPr sz="2000" dirty="0"/>
              <a:t>)</a:t>
            </a:r>
          </a:p>
          <a:p>
            <a:r>
              <a:rPr sz="2000" dirty="0"/>
              <a:t>• Runs every 2 seconds</a:t>
            </a:r>
          </a:p>
          <a:p>
            <a:r>
              <a:rPr sz="2000" dirty="0"/>
              <a:t>• </a:t>
            </a:r>
            <a:r>
              <a:rPr sz="2000" dirty="0" err="1"/>
              <a:t>LoRA</a:t>
            </a:r>
            <a:r>
              <a:rPr sz="2000" dirty="0"/>
              <a:t> fine-tuned on NTHU drowsy driver dataset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Does: ActionAgent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FunctionGemma 270M (fine-tuned)</a:t>
            </a:r>
          </a:p>
          <a:p>
            <a:endParaRPr/>
          </a:p>
          <a:p>
            <a:r>
              <a:t>• Input: pilot_state stream + session context</a:t>
            </a:r>
          </a:p>
          <a:p>
            <a:r>
              <a:t>• Output: function call strings (trigger_alert, notify_copilot, suggest_rest_protocol, log_fatigue_event, request_atc_advisory)</a:t>
            </a:r>
          </a:p>
          <a:p>
            <a:r>
              <a:t>• Autonomous safety loop — decides when to escalate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Does: LandingAgent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Gemma 3n E4B</a:t>
            </a:r>
          </a:p>
          <a:p>
            <a:endParaRPr sz="2000" dirty="0"/>
          </a:p>
          <a:p>
            <a:r>
              <a:rPr sz="2000" dirty="0"/>
              <a:t>• Input: external/belly frame (Camera 2) during approach/landing</a:t>
            </a:r>
          </a:p>
          <a:p>
            <a:r>
              <a:rPr sz="2000" dirty="0"/>
              <a:t>• Output: </a:t>
            </a:r>
            <a:r>
              <a:rPr sz="2000" dirty="0" err="1"/>
              <a:t>landing_report</a:t>
            </a:r>
            <a:r>
              <a:rPr sz="2000" dirty="0"/>
              <a:t> (</a:t>
            </a:r>
            <a:r>
              <a:rPr sz="2000" dirty="0" err="1"/>
              <a:t>bounce_count</a:t>
            </a:r>
            <a:r>
              <a:rPr sz="2000" dirty="0"/>
              <a:t>, </a:t>
            </a:r>
            <a:r>
              <a:rPr sz="2000" dirty="0" err="1"/>
              <a:t>on_centerline</a:t>
            </a:r>
            <a:r>
              <a:rPr sz="2000" dirty="0"/>
              <a:t>, </a:t>
            </a:r>
            <a:r>
              <a:rPr sz="2000" dirty="0" err="1"/>
              <a:t>contact_type</a:t>
            </a:r>
            <a:r>
              <a:rPr sz="2000" dirty="0"/>
              <a:t>, score)</a:t>
            </a:r>
          </a:p>
          <a:p>
            <a:r>
              <a:rPr sz="2000" dirty="0"/>
              <a:t>• Scores: greaser 100, firm 80, hard 60, 4+ bounces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Does: PSI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Composite 0–100 score</a:t>
            </a:r>
          </a:p>
          <a:p>
            <a:endParaRPr sz="2000" dirty="0"/>
          </a:p>
          <a:p>
            <a:r>
              <a:rPr sz="2000" dirty="0"/>
              <a:t>• Fatigue: </a:t>
            </a:r>
            <a:r>
              <a:rPr sz="2000" dirty="0" err="1"/>
              <a:t>perclos</a:t>
            </a:r>
            <a:r>
              <a:rPr sz="2000" dirty="0"/>
              <a:t>, yawn count, CRITICAL events (−40/−15/−30 pts)</a:t>
            </a:r>
          </a:p>
          <a:p>
            <a:r>
              <a:rPr sz="2000" dirty="0"/>
              <a:t>• Attention: head drop, gaze off (−30 pts)</a:t>
            </a:r>
          </a:p>
          <a:p>
            <a:r>
              <a:rPr sz="2000" dirty="0"/>
              <a:t>• Procedural: cockpit errors (−30 pts)</a:t>
            </a:r>
          </a:p>
          <a:p>
            <a:r>
              <a:rPr sz="2000" dirty="0"/>
              <a:t>• Landing: penalty if last score &amp;lt;40 (−10 pts)</a:t>
            </a:r>
          </a:p>
          <a:p>
            <a:r>
              <a:rPr sz="2000" dirty="0"/>
              <a:t>• Alert bands: 85+ NOMINAL, 70–84 MONITOR, 55–69 CAUTION, 35–54 WARNING, 0–34 CRITICAL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Does: React HUD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Live dashboard</a:t>
            </a:r>
          </a:p>
          <a:p>
            <a:endParaRPr sz="2000" dirty="0"/>
          </a:p>
          <a:p>
            <a:r>
              <a:rPr sz="2000" dirty="0"/>
              <a:t>• PSI ring (animated score)</a:t>
            </a:r>
          </a:p>
          <a:p>
            <a:r>
              <a:rPr sz="2000" dirty="0"/>
              <a:t>• Signal grid (yawns, head drops, gaze %)</a:t>
            </a:r>
          </a:p>
          <a:p>
            <a:r>
              <a:rPr sz="2000" dirty="0"/>
              <a:t>• Agent feed (</a:t>
            </a:r>
            <a:r>
              <a:rPr sz="2000" dirty="0" err="1"/>
              <a:t>FunctionGemma</a:t>
            </a:r>
            <a:r>
              <a:rPr sz="2000" dirty="0"/>
              <a:t> decisions)</a:t>
            </a:r>
          </a:p>
          <a:p>
            <a:r>
              <a:rPr sz="2000" dirty="0"/>
              <a:t>• Landing report (bounces, score)</a:t>
            </a:r>
          </a:p>
          <a:p>
            <a:r>
              <a:rPr sz="2000" dirty="0"/>
              <a:t>• Alert banner (escalating colors)</a:t>
            </a:r>
          </a:p>
          <a:p>
            <a:r>
              <a:rPr sz="2000" dirty="0"/>
              <a:t>• PSI timeline (Recharts)</a:t>
            </a:r>
          </a:p>
          <a:p>
            <a:r>
              <a:rPr sz="2000" dirty="0"/>
              <a:t>• Video panel (upload Cam 1/2), Simulator panel (inject scenarios)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Warning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• Drowsy — elevated </a:t>
            </a:r>
            <a:r>
              <a:rPr sz="2000" dirty="0" err="1"/>
              <a:t>perclos</a:t>
            </a:r>
            <a:r>
              <a:rPr sz="2000" dirty="0"/>
              <a:t>, gaze drift → </a:t>
            </a:r>
            <a:r>
              <a:rPr sz="2000" dirty="0" err="1"/>
              <a:t>trigger_alert</a:t>
            </a:r>
            <a:r>
              <a:rPr sz="2000" dirty="0"/>
              <a:t>(WARNING), </a:t>
            </a:r>
            <a:r>
              <a:rPr sz="2000" dirty="0" err="1"/>
              <a:t>suggest_rest_protocol</a:t>
            </a:r>
            <a:r>
              <a:rPr sz="2000" dirty="0"/>
              <a:t>(15)</a:t>
            </a:r>
          </a:p>
          <a:p>
            <a:r>
              <a:rPr sz="2000" dirty="0"/>
              <a:t>• Fatigue onset — </a:t>
            </a:r>
            <a:r>
              <a:rPr sz="2000" dirty="0" err="1"/>
              <a:t>perclos</a:t>
            </a:r>
            <a:r>
              <a:rPr sz="2000" dirty="0"/>
              <a:t> rising → </a:t>
            </a:r>
            <a:r>
              <a:rPr sz="2000" dirty="0" err="1"/>
              <a:t>log_fatigue_event</a:t>
            </a:r>
            <a:r>
              <a:rPr sz="2000" dirty="0"/>
              <a:t>, </a:t>
            </a:r>
            <a:r>
              <a:rPr sz="2000" dirty="0" err="1"/>
              <a:t>trigger_alert</a:t>
            </a:r>
            <a:r>
              <a:rPr sz="2000" dirty="0"/>
              <a:t>(WARNING)</a:t>
            </a:r>
          </a:p>
          <a:p>
            <a:r>
              <a:rPr sz="2000" dirty="0"/>
              <a:t>• Gaze drift — gaze off instruments → </a:t>
            </a:r>
            <a:r>
              <a:rPr sz="2000" dirty="0" err="1"/>
              <a:t>trigger_alert</a:t>
            </a:r>
            <a:r>
              <a:rPr sz="2000" dirty="0"/>
              <a:t>(WARNING)</a:t>
            </a:r>
          </a:p>
          <a:p>
            <a:r>
              <a:rPr sz="2000" dirty="0"/>
              <a:t>• Yawn series — 4+ yawns/10m → </a:t>
            </a:r>
            <a:r>
              <a:rPr sz="2000" dirty="0" err="1"/>
              <a:t>suggest_rest_protocol</a:t>
            </a:r>
            <a:r>
              <a:rPr sz="2000" dirty="0"/>
              <a:t>(20)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040D5B-C0A3-DDDD-2F61-394527EB8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11" y="4133850"/>
            <a:ext cx="3249889" cy="22165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4D1D9-F3F6-80A5-DFD9-E54C1D8C4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A5666-D00D-4352-B421-C427E1B9E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warning_ui.png">
            <a:extLst>
              <a:ext uri="{FF2B5EF4-FFF2-40B4-BE49-F238E27FC236}">
                <a16:creationId xmlns:a16="http://schemas.microsoft.com/office/drawing/2014/main" id="{B7253199-7E8C-57AC-D02D-51A3FB545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17" y="274638"/>
            <a:ext cx="8100392" cy="569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388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• Critical — micro-sleep risk, head drop → </a:t>
            </a:r>
            <a:r>
              <a:rPr sz="2000" dirty="0" err="1"/>
              <a:t>notify_copilot</a:t>
            </a:r>
            <a:r>
              <a:rPr sz="2000" dirty="0"/>
              <a:t>, </a:t>
            </a:r>
            <a:r>
              <a:rPr sz="2000" dirty="0" err="1"/>
              <a:t>trigger_alert</a:t>
            </a:r>
            <a:r>
              <a:rPr sz="2000" dirty="0"/>
              <a:t>(CRITICAL)</a:t>
            </a:r>
          </a:p>
          <a:p>
            <a:r>
              <a:rPr sz="2000" dirty="0"/>
              <a:t>• Micro-sleep — eyes closed &amp;gt;3s → </a:t>
            </a:r>
            <a:r>
              <a:rPr sz="2000" dirty="0" err="1"/>
              <a:t>notify_copilot</a:t>
            </a:r>
            <a:r>
              <a:rPr sz="2000" dirty="0"/>
              <a:t>, </a:t>
            </a:r>
            <a:r>
              <a:rPr sz="2000" dirty="0" err="1"/>
              <a:t>request_atc_advisory</a:t>
            </a:r>
            <a:endParaRPr sz="2000" dirty="0"/>
          </a:p>
          <a:p>
            <a:r>
              <a:rPr sz="2000" dirty="0"/>
              <a:t>• Head drop severe — eyelids drooping → </a:t>
            </a:r>
            <a:r>
              <a:rPr sz="2000" dirty="0" err="1"/>
              <a:t>notify_copilot</a:t>
            </a:r>
            <a:endParaRPr sz="2000" dirty="0"/>
          </a:p>
          <a:p>
            <a:r>
              <a:rPr sz="2000" dirty="0"/>
              <a:t>• Cockpit reversal — throttle opposite → </a:t>
            </a:r>
            <a:r>
              <a:rPr sz="2000" dirty="0" err="1"/>
              <a:t>trigger_alert</a:t>
            </a:r>
            <a:r>
              <a:rPr sz="2000" dirty="0"/>
              <a:t>(CRITICAL)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F97225-F0E2-5C0D-7A56-AE3280474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31" y="4005262"/>
            <a:ext cx="1908312" cy="26139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2714A-53A4-554B-AD93-CE73DEBDD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3E16C-C575-B102-07E6-1D1FA3135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critical_ui.png">
            <a:extLst>
              <a:ext uri="{FF2B5EF4-FFF2-40B4-BE49-F238E27FC236}">
                <a16:creationId xmlns:a16="http://schemas.microsoft.com/office/drawing/2014/main" id="{3E63D56A-8374-3B9D-DBCA-C59069B8B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638"/>
            <a:ext cx="8229600" cy="578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192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Takeoff &amp; Landing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• Takeoff smooth — nominal climb</a:t>
            </a:r>
          </a:p>
          <a:p>
            <a:r>
              <a:rPr sz="2000" dirty="0"/>
              <a:t>• Approach nominal — stable approach</a:t>
            </a:r>
          </a:p>
          <a:p>
            <a:r>
              <a:rPr sz="2000" dirty="0"/>
              <a:t>• Landing greaser — score 100, 1 contact</a:t>
            </a:r>
          </a:p>
          <a:p>
            <a:r>
              <a:rPr sz="2000" dirty="0"/>
              <a:t>• Landing hard — score 60, G&amp;gt;1.8</a:t>
            </a:r>
          </a:p>
          <a:p>
            <a:r>
              <a:rPr sz="2000" dirty="0"/>
              <a:t>• Landing bounce — score 10, 4+ bounces, runway excursion risk</a:t>
            </a:r>
          </a:p>
          <a:p>
            <a:r>
              <a:rPr sz="2000" dirty="0"/>
              <a:t>• Go-around — initiated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74965-A0A6-9EA7-2B94-8F3D9EAD7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2" y="3986005"/>
            <a:ext cx="3263682" cy="24446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95030-4A11-E20B-DC0C-C7AE26E4B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8DD7F-1F2C-F1E5-E050-89BCCE92B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landing_ui.png">
            <a:extLst>
              <a:ext uri="{FF2B5EF4-FFF2-40B4-BE49-F238E27FC236}">
                <a16:creationId xmlns:a16="http://schemas.microsoft.com/office/drawing/2014/main" id="{257AB93E-3EC3-01B6-ECD2-E53D67847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17" y="274638"/>
            <a:ext cx="8070574" cy="567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764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Cockpit Error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• Gear omission — gear not down by 1000 ft AGL (−8 pts)</a:t>
            </a:r>
          </a:p>
          <a:p>
            <a:r>
              <a:rPr sz="2000" dirty="0"/>
              <a:t>• Wrong button — wrong flap setting (−20 pts)</a:t>
            </a:r>
          </a:p>
          <a:p>
            <a:r>
              <a:rPr sz="2000" dirty="0"/>
              <a:t>• Reversal — throttle opposite (−20 pts)</a:t>
            </a:r>
          </a:p>
          <a:p>
            <a:r>
              <a:rPr sz="2000" dirty="0"/>
              <a:t>• Sequence error — checklist out of order (−2 pts)</a:t>
            </a:r>
          </a:p>
          <a:p>
            <a:r>
              <a:rPr sz="2000" dirty="0"/>
              <a:t>• Cockpit multi — fatigue + procedural errors combined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F13800-2C60-6DEE-F490-E61969500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781217"/>
            <a:ext cx="5323979" cy="21027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1BE61-AA79-35E0-9E6C-0815C614A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6DBD3-C975-EC28-9CC6-852F88582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cockpit_ui.png">
            <a:extLst>
              <a:ext uri="{FF2B5EF4-FFF2-40B4-BE49-F238E27FC236}">
                <a16:creationId xmlns:a16="http://schemas.microsoft.com/office/drawing/2014/main" id="{98C2700A-6E02-068E-80C3-3224700AC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34" y="153590"/>
            <a:ext cx="8494325" cy="597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746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Claims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• All inference on-device; no cloud API calls</a:t>
            </a:r>
          </a:p>
          <a:p>
            <a:r>
              <a:rPr sz="2000" dirty="0"/>
              <a:t>• Pilot biometric video never leaves the aircraft</a:t>
            </a:r>
          </a:p>
          <a:p>
            <a:r>
              <a:rPr sz="2000" dirty="0"/>
              <a:t>• Alert latency &amp;lt;500ms; cloud impossible at cruise</a:t>
            </a:r>
          </a:p>
          <a:p>
            <a:r>
              <a:rPr sz="2000" dirty="0"/>
              <a:t>• Fully offline capable for oceanic routes</a:t>
            </a:r>
          </a:p>
          <a:p>
            <a:r>
              <a:rPr sz="2000" dirty="0"/>
              <a:t>• Gemma 3n reasons over frames; not hardcoded thresholds</a:t>
            </a:r>
          </a:p>
          <a:p>
            <a:r>
              <a:rPr sz="2000" dirty="0"/>
              <a:t>• </a:t>
            </a:r>
            <a:r>
              <a:rPr sz="2000" dirty="0" err="1"/>
              <a:t>FunctionGemma</a:t>
            </a:r>
            <a:r>
              <a:rPr sz="2000" dirty="0"/>
              <a:t> autonomously decides alerts</a:t>
            </a:r>
          </a:p>
          <a:p>
            <a:r>
              <a:rPr sz="2000" dirty="0"/>
              <a:t>• Fine-tuned models improve accuracy</a:t>
            </a:r>
          </a:p>
          <a:p>
            <a:r>
              <a:rPr sz="2000" dirty="0"/>
              <a:t>• Prototype; real deployment requires DO-178C, FAA/EASA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1. Cold HUD — PSI 95, NOMINAL</a:t>
            </a:r>
          </a:p>
          <a:p>
            <a:r>
              <a:rPr sz="2000" dirty="0"/>
              <a:t>2. Inject drowsy / upload NTHU video → PSI drops, WARNING</a:t>
            </a:r>
          </a:p>
          <a:p>
            <a:r>
              <a:rPr sz="2000" dirty="0"/>
              <a:t>3. Inject critical → CRITICAL, </a:t>
            </a:r>
            <a:r>
              <a:rPr sz="2000" dirty="0" err="1"/>
              <a:t>notify_copilot</a:t>
            </a:r>
            <a:endParaRPr sz="2000" dirty="0"/>
          </a:p>
          <a:p>
            <a:r>
              <a:rPr sz="2000" dirty="0"/>
              <a:t>4. Inject </a:t>
            </a:r>
            <a:r>
              <a:rPr sz="2000" dirty="0" err="1"/>
              <a:t>landing_bounce</a:t>
            </a:r>
            <a:r>
              <a:rPr sz="2000" dirty="0"/>
              <a:t> → score 10, runway excursion risk</a:t>
            </a:r>
          </a:p>
          <a:p>
            <a:r>
              <a:rPr sz="2000" dirty="0"/>
              <a:t>5. Inject </a:t>
            </a:r>
            <a:r>
              <a:rPr sz="2000" dirty="0" err="1"/>
              <a:t>cockpit_errors</a:t>
            </a:r>
            <a:r>
              <a:rPr sz="2000" dirty="0"/>
              <a:t> → procedural deductions</a:t>
            </a:r>
          </a:p>
          <a:p>
            <a:r>
              <a:rPr sz="2000" dirty="0"/>
              <a:t>6. Turn off </a:t>
            </a:r>
            <a:r>
              <a:rPr sz="2000" dirty="0" err="1"/>
              <a:t>WiFi</a:t>
            </a:r>
            <a:r>
              <a:rPr sz="2000" dirty="0"/>
              <a:t> — system keeps running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EngageIQ Flight Deck</a:t>
            </a:r>
          </a:p>
          <a:p>
            <a:r>
              <a:t>Real-time pilot safety — fully on-device.</a:t>
            </a:r>
          </a:p>
          <a:p>
            <a:endParaRPr/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1104</Words>
  <Application>Microsoft Office PowerPoint</Application>
  <PresentationFormat>On-screen Show (4:3)</PresentationFormat>
  <Paragraphs>109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EngageIQ Flight Deck</vt:lpstr>
      <vt:lpstr>Real-Life Problem</vt:lpstr>
      <vt:lpstr>Solving Use Case</vt:lpstr>
      <vt:lpstr>Components</vt:lpstr>
      <vt:lpstr>Architecture</vt:lpstr>
      <vt:lpstr>What It Does: PerceptionAgent</vt:lpstr>
      <vt:lpstr>What It Does: ActionAgent</vt:lpstr>
      <vt:lpstr>What It Does: LandingAgent</vt:lpstr>
      <vt:lpstr>What It Does: PSI Engine</vt:lpstr>
      <vt:lpstr>What It Does: React HUD</vt:lpstr>
      <vt:lpstr>Warning Scenarios</vt:lpstr>
      <vt:lpstr>PowerPoint Presentation</vt:lpstr>
      <vt:lpstr>Critical Scenarios</vt:lpstr>
      <vt:lpstr>PowerPoint Presentation</vt:lpstr>
      <vt:lpstr>Takeoff &amp; Landing Scenarios</vt:lpstr>
      <vt:lpstr>PowerPoint Presentation</vt:lpstr>
      <vt:lpstr>Cockpit Error Scenarios</vt:lpstr>
      <vt:lpstr>PowerPoint Presentation</vt:lpstr>
      <vt:lpstr>Key Claims</vt:lpstr>
      <vt:lpstr>Demo Flow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Saurabh Khire</cp:lastModifiedBy>
  <cp:revision>12</cp:revision>
  <dcterms:created xsi:type="dcterms:W3CDTF">2013-01-27T09:14:16Z</dcterms:created>
  <dcterms:modified xsi:type="dcterms:W3CDTF">2026-03-01T02:45:58Z</dcterms:modified>
  <cp:category/>
</cp:coreProperties>
</file>